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uel/samas-cli/.claude/worktrees/agitated-carson-f6351d/resources/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1430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606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SAMAS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0" y="3246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cerebro de tu inversión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 B2B2C para brókers retail argentinos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Manuel Goldsztein · Mayo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 PROBLEMA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Invertir en Argentina sigue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siendo un acto de fe.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retail argentino usa apps de bróker que parecen terminales de Bloomberg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densas, intimidantes, sin coaching, sin contexto.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63240"/>
            <a:ext cx="2697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3063240"/>
            <a:ext cx="5486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guía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Pantallas llenas de datos crudos. Cero coaching antes o después de una operación.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3063240"/>
            <a:ext cx="2697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3063240"/>
            <a:ext cx="5486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educación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Glosarios PDF de 2018. Nadie te explica un CEDEAR, una tesis, o por qué tu cartera está concentrada.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3063240"/>
            <a:ext cx="26974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3063240"/>
            <a:ext cx="54864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 comunidad real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Foros y Discord paralelos. Cero verificación de quién es asesor vs quién finge serlo.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2/14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 SOLUCIÓN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SAMAS es el cerebro AI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sobre la cuenta de tu bróker.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Una capa de software premium que cualquier ALyC puede licenciar.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bróker mantiene la regulación. SAMAS hace que la experiencia se sienta de 2026.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19+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superficies de IA integradas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Brief diario, Trade Coach, Chat con cartera en contexto, análisis de riesgo, sugerencias de rebalanceo…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313639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017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el bróker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32186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Diferenciación por UX sin desarrollar el software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68503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5661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el usuario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Decisiones más informadas, con IA y contexto en cada paso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423367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4114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el ecosistema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3159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Educación financiera con mecánicas de Duolingo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3/14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CÓMO FUNCIONA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B2B2C: dos capas, un usuario feliz.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 bróker custodia los activos y ejecuta las órdenes. SAMAS es la interfaz, la IA y la educación.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3774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F1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USUARIO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 inversor retail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Abre la app. Ve su cartera. Pregunta a la IA. Compra. Aprende.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743200"/>
            <a:ext cx="2377440" cy="1828800"/>
          </a:xfrm>
          <a:prstGeom prst="rect">
            <a:avLst/>
          </a:prstGeom>
          <a:solidFill>
            <a:srgbClr val="161B22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Capa de software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UX premium, IA, social, tutoriales, alertas, analítica. Sin custodia. Sin ejecución.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2743200"/>
            <a:ext cx="237744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2834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F1E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BRÓKER (ALyC)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652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Entidad regulada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52044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Custodia, ejecución, settlement, retención impositiva. Inscripta CNV.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80644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4/14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PRODUCTO · INICIO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 dashboard, no una billetera.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84048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PATRIMONIO · ARS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$3.880.850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868680" cy="228600"/>
          </a:xfrm>
          <a:prstGeom prst="roundRect">
            <a:avLst>
              <a:gd name="adj" fmla="val 20000"/>
            </a:avLst>
          </a:prstGeom>
          <a:solidFill>
            <a:srgbClr val="22C55E">
              <a:alpha val="2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↑ 1.84%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0020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hoy · +US$22.84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2743200" cy="274320"/>
          </a:xfrm>
          <a:prstGeom prst="roundRect">
            <a:avLst>
              <a:gd name="adj" fmla="val 50000"/>
            </a:avLst>
          </a:prstGeom>
          <a:solidFill>
            <a:srgbClr val="08090A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Operado por SAMAS Broker  ·  demo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F2630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69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Comprar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490472" y="406908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F2630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90472" y="4069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Vender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40864" y="406908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F2630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40864" y="4069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Cargar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91256" y="4069080"/>
            <a:ext cx="777240" cy="411480"/>
          </a:xfrm>
          <a:prstGeom prst="roundRect">
            <a:avLst>
              <a:gd name="adj" fmla="val 17778"/>
            </a:avLst>
          </a:prstGeom>
          <a:solidFill>
            <a:srgbClr val="1F2630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91256" y="4069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Retirar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39572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286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Brief diario IA al tope — lo que pasó con tu cartera, en una línea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871216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7614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Patrimonio total = cash + invertido (no es una wallet)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346704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23697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Sparkline 30d live con drift de los tickers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7124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Chip 'Operado por [bróker]' que recuerda el modelo B2B2C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429768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187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Acciones que importan: Comprar / Vender, no Send / Receive / Swap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5/14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PRODUCTO · 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IA que entiende TU cartera.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un chatbot genérico. Cada superficie ve tu portfolio, tu historial, tus posiciones.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697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81635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Brief Diario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Resumen narrativo de tu cartera cada mañana. Generado, no curado.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2651760"/>
            <a:ext cx="2697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81635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Trade Coach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Evalúa cada orden contra tu cartera ANTES de confirmar.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651760"/>
            <a:ext cx="2697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81635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761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Chat con tu cartera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30632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Pregunta lo que quieras. La IA tiene tus holdings en contexto.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2697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91363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Análisis de riesgo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Score 1-10 por activo. Volatilidad, concentración, drawdown.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3749040"/>
            <a:ext cx="2697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391363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Sugerencia de tamaño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2044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tamaños (Conservador / Estándar / Agresivo) por operación.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3749040"/>
            <a:ext cx="269748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3913632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Insights proactivos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Push notifications cuando la IA detecta algo accionable.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6/14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PRODUCTO · EDUCACIÓN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Aprender invirtiendo,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estilo Duolingo.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2167128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4884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0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Tutoriales interactivos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Lee → respondé un quiz → ganás XP. No es leer un PDF, es jugar.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825496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072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0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7614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Path con zigzag + lock-gating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035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Módulo 2 desbloqueado al completar el 1. Progresión clara.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48386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46557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0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419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Sistema de XP + estrellas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69417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XP base + 2 bonus por respuesta correcta al primer intento. Perfect run = 2da estrella.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4142232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2394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90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0782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Streak diario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3525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Mecánica de retención: si abrís un día, tu racha sube. Si fallás, vuelve a 0.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2103120"/>
            <a:ext cx="3657600" cy="2606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194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PREGUNTA 1 DE 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9496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¿Cuál es la diferencia entre Pro y Plus?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0" y="306324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F2630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30632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 es paga, Plus es gratis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352044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22C55E">
              <a:alpha val="30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3520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 = vista densa gratis; Plus = paga, IA ilimitada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35204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94960" y="397764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1F2630"/>
          </a:solidFill>
          <a:ln w="19050">
            <a:solidFill>
              <a:srgbClr val="2A31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3977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Son el mismo plan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7/14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PRODUCTO · SOCIAL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Comunidad real, no foros piratas.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Verificación de idóneos CNV y de universidades AR. Quién es asesor, quién es estudiante, quién es retail.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3154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Tilde azul · Idóneo CNV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657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Asesores inscriptos en el registro de CNV. Verificación manual contra el padrón público. No se compra, se gana.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3108960"/>
            <a:ext cx="457200" cy="45720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77840" y="3154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Tilde verde · Universidad 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36576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Verificación automática por dominio de email (UBA, UDESA, ITBA, UTDT, etc.). El estudiante muestra a qué uni va.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8/14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MERCADO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Retail argentino: en expansión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 en transformación.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974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1.4M+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cuentas de inversión activas en 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CNV — 2024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2103120"/>
            <a:ext cx="26974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70%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5204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del volumen retail en CEDEARs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BYMA — 2024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2103120"/>
            <a:ext cx="2697480" cy="17830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194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12+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ALyCs retail compitiendo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Cocos, IOL, Brubank, Cohen, Balanz…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8321040" cy="548640"/>
          </a:xfrm>
          <a:prstGeom prst="rect">
            <a:avLst/>
          </a:prstGeom>
          <a:solidFill>
            <a:srgbClr val="0809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Los brókers compiten cada vez más por UX, no por comisión. Software es donde gana.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9/14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MODELO DE NEGOCIO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Dos fuentes de revenue.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023360" cy="2468880"/>
          </a:xfrm>
          <a:prstGeom prst="rect">
            <a:avLst/>
          </a:prstGeom>
          <a:solidFill>
            <a:srgbClr val="161B22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LICENCIA B2B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SaaS al bróker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 mensual por MAU, o flat license anual. El bróker integra SAMAS como su app de retail. Modelo recurrente, alto LTV, baja churn por sticky integration.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~80% del revenue proyectado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46320" y="2194560"/>
            <a:ext cx="4023360" cy="2468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PLUS CONSUMER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2606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SAMAS Plus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30632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US$5/mes. Saca el límite de 5 consultas IA/día sobre features tappeables (chat, análisis profundo, rebalanceo). Revenue compartido con el bróker partner.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4343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~20% del revenue · upside con escala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10/14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COMPETENCIA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Nadie hace exactamente esto.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Producto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Modelo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233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IA integrada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Educación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0664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Social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412480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569464"/>
            <a:ext cx="8503920" cy="384048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Software-only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19+ surfaces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Duolingo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0664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Verificado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90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Cocos Capital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2990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Bróker propio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2990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0" y="299008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Blog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06640" y="29900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741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IOL Invertir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33741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Bróker propio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33741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Limitado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33741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Tutoriales PDF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33741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75818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Brubank Invest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286000" y="37581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Banca + bróker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37581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37581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375818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142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Balanz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4142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Bróker propio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23360" y="41422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60720" y="41422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Webinars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06640" y="41422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SAMAS no compite con los brókers. Los habilita.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11/14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TRACCIÓN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Prototipo shippeado. Demo en vivo.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0233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94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82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24028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patches shipped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0.0.1 → 0.4.82, 6 meses solo dev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40233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219456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19+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IA surfaces wired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Brief, Coach, Chat, Risk, Sizing…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40233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24028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 retail-specific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CEDEAR, MEP, FCI, idóneo CNV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429000"/>
            <a:ext cx="402336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Ready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537960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para integración bróker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40233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Edge Functions + REST hooks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3659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Funcionando hoy en iOS — Capacitor + Vite + React 18 + Supabase. Lista para piloto.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12/14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EQUIPO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Dos co-founders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 vienen ejecutando.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402336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1097280" cy="1097280"/>
          </a:xfrm>
          <a:prstGeom prst="ellipse">
            <a:avLst/>
          </a:prstGeom>
          <a:solidFill>
            <a:srgbClr val="22C55E">
              <a:alpha val="3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96596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Manuel Goldsztein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965960" y="2816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Co-founder · Producto · Ingeniería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Construyó el prototipo full-stack: iOS (Capacitor), backend (Supabase), 19+ integraciones IA. Background técnico, foco en producto y UX.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4023360" cy="201168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0" y="2468880"/>
            <a:ext cx="1097280" cy="1097280"/>
          </a:xfrm>
          <a:prstGeom prst="ellipse">
            <a:avLst/>
          </a:prstGeom>
          <a:solidFill>
            <a:srgbClr val="22C55E">
              <a:alpha val="3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468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Santiago Rolandelli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63640" y="281635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C55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Co-founder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365760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Co-founder. Background y rol específico a completar pre-pitch.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 el primer cheque: lead engineer + product designer + GTM lead.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13/14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732520" y="480060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EL ASK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Cohen como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 partner.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 que estamos pidiendo: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Integración técnica: API del bróker + ejecución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08152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Acceso a ~100 usuarios beta (3 meses)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465576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741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Comarketing del piloto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49624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Term sheet por una participación estratégica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286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 que Cohen recibe: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2697480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retail de clase 2026 sin invertir en software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3081528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Diferenciación por UX vs Cocos/IOL/Balanz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3465576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3741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Equity en la capa que las próximas ALyCs van a necesitar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92040" y="3849624"/>
            <a:ext cx="146304" cy="14630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66360" y="3758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1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Co-creación de roadmap durante el piloto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412480" cy="0"/>
          </a:xfrm>
          <a:prstGeom prst="line">
            <a:avLst/>
          </a:prstGeom>
          <a:noFill/>
          <a:ln w="12700">
            <a:solidFill>
              <a:srgbClr val="2A31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1E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Manuel Goldsztein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0" y="4526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22C55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manugoldsztein@gmail.com  ·  samas.app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9CA3A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SAMAS · 14/14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SAMAS — Pitch Deck</dc:title>
  <dc:subject>B2B2C investment software for AR brokers</dc:subject>
  <dc:creator>Manuel Goldsztein</dc:creator>
  <cp:lastModifiedBy>Manuel Goldsztein</cp:lastModifiedBy>
  <cp:revision>1</cp:revision>
  <dcterms:created xsi:type="dcterms:W3CDTF">2026-05-12T11:29:08Z</dcterms:created>
  <dcterms:modified xsi:type="dcterms:W3CDTF">2026-05-12T11:29:08Z</dcterms:modified>
</cp:coreProperties>
</file>